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MAJOR B.TECH FINAL-YEAR PROJECT PRESENTATION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MedFracture-Net: A Multi-Task Deep Learning Framework for Real-Time Bone Fracture Detection, Localization, and Severity Assessment</a:t>
            </a:r>
          </a:p>
          <a:p>
            <a:pPr>
              <a:spcBef>
                <a:spcPts val="1500"/>
              </a:spcBef>
              <a:defRPr sz="1600">
                <a:solidFill>
                  <a:srgbClr val="E2E8F0"/>
                </a:solidFill>
              </a:defRPr>
            </a:pPr>
            <a:r>
              <a:t>Computer Vision &amp; Medical Deep Learning Decision Support Architecture</a:t>
            </a:r>
          </a:p>
          <a:p>
            <a:pPr>
              <a:spcBef>
                <a:spcPts val="3000"/>
              </a:spcBef>
              <a:defRPr sz="1300">
                <a:solidFill>
                  <a:srgbClr val="2B6CB0"/>
                </a:solidFill>
              </a:defRPr>
            </a:pPr>
            <a:r>
              <a:t>Author: Student Research Team  |  Guide: Project Advisor  | 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Clinical Diagnostic Bottleneck: </a:t>
            </a:r>
            <a:r>
              <a:rPr b="0" sz="1500">
                <a:solidFill>
                  <a:srgbClr val="2D3748"/>
                </a:solidFill>
              </a:rPr>
              <a:t>Manual interpretation of X-ray radiographs is subjective, labor-intensive, and prone to human diagnostic error during high-volume emergency department shifts.</a:t>
            </a:r>
          </a:p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Failure of Classical Edge Detectors: </a:t>
            </a:r>
            <a:r>
              <a:rPr b="0" sz="1500">
                <a:solidFill>
                  <a:srgbClr val="2D3748"/>
                </a:solidFill>
              </a:rPr>
              <a:t>Existing literature relies heavily on classical Canny edge detection, Otsu thresholding, or Adaptive Gaussian filters, which fail under low X-ray contrast, non-uniform illumination, and soft-tissue overlaps.</a:t>
            </a:r>
          </a:p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Micro-Fracture Diagnostic Gaps: </a:t>
            </a:r>
            <a:r>
              <a:rPr b="0" sz="1500">
                <a:solidFill>
                  <a:srgbClr val="2D3748"/>
                </a:solidFill>
              </a:rPr>
              <a:t>Hairline and non-displaced fractures are frequently missed in early-stage X-rays, leading to delayed orthopedic stabilization and improper healing.</a:t>
            </a:r>
          </a:p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Lack of Clinical Interpretability: </a:t>
            </a:r>
            <a:r>
              <a:rPr b="0" sz="1500">
                <a:solidFill>
                  <a:srgbClr val="2D3748"/>
                </a:solidFill>
              </a:rPr>
              <a:t>Existing black-box deep learning models lack explainable visual features, making radiologists reluctant to rely on AI outputs without visual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600">
                <a:solidFill>
                  <a:srgbClr val="2B6CB0"/>
                </a:solidFill>
              </a:defRPr>
            </a:pPr>
            <a:r>
              <a:t>1. Real-Time Detection: </a:t>
            </a:r>
            <a:r>
              <a:rPr b="0" sz="1500">
                <a:solidFill>
                  <a:srgbClr val="2D3748"/>
                </a:solidFill>
              </a:rPr>
              <a:t>Binary verification of fracture presence vs. intact healthy bone cortex.</a:t>
            </a:r>
          </a:p>
          <a:p>
            <a:pPr>
              <a:spcBef>
                <a:spcPts val="1000"/>
              </a:spcBef>
              <a:defRPr b="1" sz="1600">
                <a:solidFill>
                  <a:srgbClr val="2B6CB0"/>
                </a:solidFill>
              </a:defRPr>
            </a:pPr>
            <a:r>
              <a:t>2. Sub-Pixel Localization: </a:t>
            </a:r>
            <a:r>
              <a:rPr b="0" sz="1500">
                <a:solidFill>
                  <a:srgbClr val="2D3748"/>
                </a:solidFill>
              </a:rPr>
              <a:t>Instance segmentation of exact crack boundaries using U-Net++ nested skip connections.</a:t>
            </a:r>
          </a:p>
          <a:p>
            <a:pPr>
              <a:spcBef>
                <a:spcPts val="1000"/>
              </a:spcBef>
              <a:defRPr b="1" sz="1600">
                <a:solidFill>
                  <a:srgbClr val="2B6CB0"/>
                </a:solidFill>
              </a:defRPr>
            </a:pPr>
            <a:r>
              <a:t>3. Morphological Classification: </a:t>
            </a:r>
            <a:r>
              <a:rPr b="0" sz="1500">
                <a:solidFill>
                  <a:srgbClr val="2D3748"/>
                </a:solidFill>
              </a:rPr>
              <a:t>Categorize fractures into 6 types: Transverse, Oblique, Spiral, Comminuted, Hairline, Greenstick.</a:t>
            </a:r>
          </a:p>
          <a:p>
            <a:pPr>
              <a:spcBef>
                <a:spcPts val="1000"/>
              </a:spcBef>
              <a:defRPr b="1" sz="1600">
                <a:solidFill>
                  <a:srgbClr val="2B6CB0"/>
                </a:solidFill>
              </a:defRPr>
            </a:pPr>
            <a:r>
              <a:t>4. Quantitative Severity Estimation: </a:t>
            </a:r>
            <a:r>
              <a:rPr b="0" sz="1500">
                <a:solidFill>
                  <a:srgbClr val="2D3748"/>
                </a:solidFill>
              </a:rPr>
              <a:t>Calculate physical fracture length in millimeters (mm) using spatial pixel calibration.</a:t>
            </a:r>
          </a:p>
          <a:p>
            <a:pPr>
              <a:spcBef>
                <a:spcPts val="1000"/>
              </a:spcBef>
              <a:defRPr b="1" sz="1600">
                <a:solidFill>
                  <a:srgbClr val="2B6CB0"/>
                </a:solidFill>
              </a:defRPr>
            </a:pPr>
            <a:r>
              <a:t>5. Explainable AI (XAI): </a:t>
            </a:r>
            <a:r>
              <a:rPr b="0" sz="1500">
                <a:solidFill>
                  <a:srgbClr val="2D3748"/>
                </a:solidFill>
              </a:rPr>
              <a:t>Generate Grad-CAM++ feature activation maps to visually audit network decision rationale.</a:t>
            </a:r>
          </a:p>
          <a:p>
            <a:pPr>
              <a:spcBef>
                <a:spcPts val="1000"/>
              </a:spcBef>
              <a:defRPr b="1" sz="1600">
                <a:solidFill>
                  <a:srgbClr val="2B6CB0"/>
                </a:solidFill>
              </a:defRPr>
            </a:pPr>
            <a:r>
              <a:t>6. Clinical PDF &amp; Web Deployment: </a:t>
            </a:r>
            <a:r>
              <a:rPr b="0" sz="1500">
                <a:solidFill>
                  <a:srgbClr val="2D3748"/>
                </a:solidFill>
              </a:rPr>
              <a:t>Deliver a real-time Streamlit web workstation and dynamic PDF report generator.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Literature Review &amp; Base Paper Gap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Base IEEE Reference Paper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Existing DL Approaches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Proposed MedFracture-Net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Core Algorithm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Classical Canny &amp; Otsu Edge Filters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Standard Single U-Net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365D"/>
                          </a:solidFill>
                        </a:defRPr>
                      </a:pPr>
                      <a:r>
                        <a:t>U-Net++ &amp; ResNet-34 Multi-Task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Target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Rigid Industrial Workpieces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Simple 2D Bone Masks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365D"/>
                          </a:solidFill>
                        </a:defRPr>
                      </a:pPr>
                      <a:r>
                        <a:t>Complex Biological Radiographs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Classification Accuracy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94.12%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92.0% - 95.5%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365D"/>
                          </a:solidFill>
                        </a:defRPr>
                      </a:pPr>
                      <a:r>
                        <a:t>98.70% (+4.58% Improvement)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Clinical 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None (Threshold Heuristics)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None (Black Box CNN)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365D"/>
                          </a:solidFill>
                        </a:defRPr>
                      </a:pPr>
                      <a:r>
                        <a:t>Grad-CAM++ Saliency Heatmaps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MedFracture-Net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Phase 1: Radiograph Preprocessing: </a:t>
            </a:r>
            <a:r>
              <a:rPr b="0" sz="1400">
                <a:solidFill>
                  <a:srgbClr val="2D3748"/>
                </a:solidFill>
              </a:rPr>
              <a:t>Contrast Limited Adaptive Histogram Equalization (CLAHE) with tile grid equalization and bilateral noise removal.</a:t>
            </a:r>
          </a:p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Phase 2: Sub-Pixel Segmentation: </a:t>
            </a:r>
            <a:r>
              <a:rPr b="0" sz="1400">
                <a:solidFill>
                  <a:srgbClr val="2D3748"/>
                </a:solidFill>
              </a:rPr>
              <a:t>Nested U-Net++ architecture capturing fine structural trabecular crack lines.</a:t>
            </a:r>
          </a:p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Phase 3: Multi-Class Classification: </a:t>
            </a:r>
            <a:r>
              <a:rPr b="0" sz="1400">
                <a:solidFill>
                  <a:srgbClr val="2D3748"/>
                </a:solidFill>
              </a:rPr>
              <a:t>Deep ResNet-34 feature extraction network for 6 morphological categories.</a:t>
            </a:r>
          </a:p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Phase 4: Explainable AI (XAI): </a:t>
            </a:r>
            <a:r>
              <a:rPr b="0" sz="1400">
                <a:solidFill>
                  <a:srgbClr val="2D3748"/>
                </a:solidFill>
              </a:rPr>
              <a:t>Grad-CAM++ gradient attribution engine highlighting feature focus areas.</a:t>
            </a:r>
          </a:p>
          <a:p>
            <a:pPr>
              <a:spcBef>
                <a:spcPts val="1200"/>
              </a:spcBef>
              <a:defRPr b="1" sz="1600">
                <a:solidFill>
                  <a:srgbClr val="1A365D"/>
                </a:solidFill>
              </a:defRPr>
            </a:pPr>
            <a:r>
              <a:t>• Phase 5: Severity &amp; Report Generation: </a:t>
            </a:r>
            <a:r>
              <a:rPr b="0" sz="1400">
                <a:solidFill>
                  <a:srgbClr val="2D3748"/>
                </a:solidFill>
              </a:rPr>
              <a:t>cv2.minAreaRect geometric millimeter calculator and dynamic PDF report generator.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Radiograph Preprocessing &amp; CLAHE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Contrast Limited Adaptive Histogram Equalization (CLAHE):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Divides X-ray into 8x8 contextual regions with clip limit = 3.0 to equalize local intensity distribution without over-amplifying background noise.</a:t>
            </a:r>
          </a:p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Bilateral Noise Filtering: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Preserves sharp bone cortical boundaries while eliminating high-frequency sensor noise.</a:t>
            </a:r>
          </a:p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Albumentations Augmentation Pipeline: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Applies random rotations (15°), horizontal flips, shift-scale-rotate, and Gaussian noise to guarantee model robustness across multi-center X-ray machines.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Deep Learning Methodology: U-Net++ &amp; ResNet-34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600">
                <a:solidFill>
                  <a:srgbClr val="1A365D"/>
                </a:solidFill>
              </a:defRPr>
            </a:pPr>
            <a:r>
              <a:t>• Nested U-Net++ Segmentation Architecture: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Incorporates re-designed dense skip pathways (conv0_0 to conv0_4) to bridge semantic gaps between encoder and decoder feature maps, preventing edge detail loss.</a:t>
            </a:r>
          </a:p>
          <a:p>
            <a:pPr>
              <a:spcBef>
                <a:spcPts val="1400"/>
              </a:spcBef>
              <a:defRPr b="1" sz="1600">
                <a:solidFill>
                  <a:srgbClr val="1A365D"/>
                </a:solidFill>
              </a:defRPr>
            </a:pPr>
            <a:r>
              <a:t>• ResNet-34 Classification Backbone: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Leverages residual shortcut connections (x + F(x)) to eliminate vanishing gradients during deep feature extraction across 6 morphological classes.</a:t>
            </a:r>
          </a:p>
          <a:p>
            <a:pPr>
              <a:spcBef>
                <a:spcPts val="1400"/>
              </a:spcBef>
              <a:defRPr b="1" sz="1600">
                <a:solidFill>
                  <a:srgbClr val="1A365D"/>
                </a:solidFill>
              </a:defRPr>
            </a:pPr>
            <a:r>
              <a:t>• Joint Multi-Task Loss Function: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Minimizes combined objective: L_Total = 0.5 * L_Dice + 0.3 * L_FocalCE + 0.2 * L_BCE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Explainable AI (Grad-CAM++) &amp; Physical Severity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Grad-CAM++ Feature Attribution: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Calculates higher-order partial derivatives of classification scores with respect to final ResNet feature maps, producing pixel-accurate heatmaps that audit AI diagnostic focus.</a:t>
            </a:r>
          </a:p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Spatial Millimeter Calibration: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Physical Length (mm) = Pixel Extent x Spatial Calibration Factor (0.15 mm/px).</a:t>
            </a:r>
          </a:p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Clinical Severity Grading:</a:t>
            </a:r>
            <a:br/>
            <a:r>
              <a:t>  </a:t>
            </a:r>
            <a:r>
              <a:rPr b="0" sz="1500">
                <a:solidFill>
                  <a:srgbClr val="2D3748"/>
                </a:solidFill>
              </a:rPr>
              <a:t>Mild (&lt; 5.0 mm), Moderate (5.0 - 15.0 mm), Severe (&gt; 15.0 mm).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Empirical Metric Benchmark &amp; Baseline Comparison (10k Cohort)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792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 / Architecture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F1-Score (%)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Dice Score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365D"/>
                          </a:solidFill>
                        </a:defRPr>
                      </a:pPr>
                      <a:r>
                        <a:t>Scratch Ablation (Random Init)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365D"/>
                          </a:solidFill>
                        </a:defRPr>
                      </a:pPr>
                      <a:r>
                        <a:t>57.88%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57.80%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73.20%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0.125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365D"/>
                          </a:solidFill>
                        </a:defRPr>
                      </a:pPr>
                      <a:r>
                        <a:t>Otsu Thresholding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365D"/>
                          </a:solidFill>
                        </a:defRPr>
                      </a:pPr>
                      <a:r>
                        <a:t>91.25%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90.12%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89.75%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89.93%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365D"/>
                          </a:solidFill>
                        </a:defRPr>
                      </a:pPr>
                      <a:r>
                        <a:t>Adaptive Gaussian Filter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365D"/>
                          </a:solidFill>
                        </a:defRPr>
                      </a:pPr>
                      <a:r>
                        <a:t>93.48%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92.85%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92.10%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92.47%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0.910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365D"/>
                          </a:solidFill>
                        </a:defRPr>
                      </a:pPr>
                      <a:r>
                        <a:t>Canny Edge Detector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365D"/>
                          </a:solidFill>
                        </a:defRPr>
                      </a:pPr>
                      <a:r>
                        <a:t>94.12%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93.56%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93.05%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93.30%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748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365D"/>
                          </a:solidFill>
                        </a:defRPr>
                      </a:pPr>
                      <a:r>
                        <a:t>MedFracture-Net (Patient-Independent)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365D"/>
                          </a:solidFill>
                        </a:defRPr>
                      </a:pPr>
                      <a:r>
                        <a:t>99.49%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D3748"/>
                          </a:solidFill>
                        </a:defRPr>
                      </a:pPr>
                      <a:r>
                        <a:t>99.75%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D3748"/>
                          </a:solidFill>
                        </a:defRPr>
                      </a:pPr>
                      <a:r>
                        <a:t>99.37%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D3748"/>
                          </a:solidFill>
                        </a:defRPr>
                      </a:pPr>
                      <a:r>
                        <a:t>99.56%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2D3748"/>
                          </a:solidFill>
                        </a:defRPr>
                      </a:pPr>
                      <a:r>
                        <a:t>0.984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Empirical Validation &amp; Zero Patient Data Leakage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500">
                <a:solidFill>
                  <a:srgbClr val="1A365D"/>
                </a:solidFill>
              </a:defRPr>
            </a:pPr>
            <a:r>
              <a:t>• Audited Patient Leakage Resolution: </a:t>
            </a:r>
            <a:r>
              <a:rPr b="0" sz="1400">
                <a:solidFill>
                  <a:srgbClr val="2D3748"/>
                </a:solidFill>
              </a:rPr>
              <a:t>Identified 96.25% patient ID leakage in naive Kaggle folder splits caused by rotations (1-rotated1.jpg). Resolved via Patient-Independent Group Splitting across 121 unique patients with 0% patient leakage.</a:t>
            </a:r>
          </a:p>
          <a:p>
            <a:pPr>
              <a:spcBef>
                <a:spcPts val="1200"/>
              </a:spcBef>
              <a:defRPr b="1" sz="1500">
                <a:solidFill>
                  <a:srgbClr val="1A365D"/>
                </a:solidFill>
              </a:defRPr>
            </a:pPr>
            <a:r>
              <a:t>• Strictly Held-Out Generalization: </a:t>
            </a:r>
            <a:r>
              <a:rPr b="0" sz="1400">
                <a:solidFill>
                  <a:srgbClr val="2D3748"/>
                </a:solidFill>
              </a:rPr>
              <a:t>Evaluated on 1,377 radiographs across 25 unseen patient entities. Correctly predicted 1,370 out of 1,377 radiographs (99.49% empirical accuracy, 95% Wilson CI: [98.95%, 99.75%]).</a:t>
            </a:r>
          </a:p>
          <a:p>
            <a:pPr>
              <a:spcBef>
                <a:spcPts val="1200"/>
              </a:spcBef>
              <a:defRPr b="1" sz="1500">
                <a:solidFill>
                  <a:srgbClr val="1A365D"/>
                </a:solidFill>
              </a:defRPr>
            </a:pPr>
            <a:r>
              <a:t>• Diagnostic Sensitivity &amp; Specificity: </a:t>
            </a:r>
            <a:r>
              <a:rPr b="0" sz="1400">
                <a:solidFill>
                  <a:srgbClr val="2D3748"/>
                </a:solidFill>
              </a:rPr>
              <a:t>Achieved 99.37% clinical sensitivity (792/797 fractures detected) and 99.66% specificity (578/580 normal bones identified), yielding 0.9998 ROC-AUC.</a:t>
            </a:r>
          </a:p>
          <a:p>
            <a:pPr>
              <a:spcBef>
                <a:spcPts val="1200"/>
              </a:spcBef>
              <a:defRPr b="1" sz="1500">
                <a:solidFill>
                  <a:srgbClr val="1A365D"/>
                </a:solidFill>
              </a:defRPr>
            </a:pPr>
            <a:r>
              <a:t>• Backbone Transfer Learning Ablation: </a:t>
            </a:r>
            <a:r>
              <a:rPr b="0" sz="1400">
                <a:solidFill>
                  <a:srgbClr val="2D3748"/>
                </a:solidFill>
              </a:rPr>
              <a:t>Untrained scratch model achieved only 57.88% accuracy (0.5056 AUC), confirming that ImageNet-pretrained representations are vital for robust radiographic boundary discernment.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Real-Time Workstation &amp; Automated PDF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Streamlit Interactive Dashboard: </a:t>
            </a:r>
            <a:r>
              <a:rPr b="0" sz="1500">
                <a:solidFill>
                  <a:srgbClr val="2D3748"/>
                </a:solidFill>
              </a:rPr>
              <a:t>Real-time web interface supporting drag-and-drop DICOM/PNG X-ray uploads.</a:t>
            </a:r>
          </a:p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Anatomical Auto-Detection: </a:t>
            </a:r>
            <a:r>
              <a:rPr b="0" sz="1500">
                <a:solidFill>
                  <a:srgbClr val="2D3748"/>
                </a:solidFill>
              </a:rPr>
              <a:t>Morphological profile classifier automatically identifies Forearm vs. Leg structure.</a:t>
            </a:r>
          </a:p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Ultra-Fast Latency: </a:t>
            </a:r>
            <a:r>
              <a:rPr b="0" sz="1500">
                <a:solidFill>
                  <a:srgbClr val="2D3748"/>
                </a:solidFill>
              </a:rPr>
              <a:t>Inference latency of 31.4 ms (&gt; 30 FPS execution rate).</a:t>
            </a:r>
          </a:p>
          <a:p>
            <a:pPr>
              <a:spcBef>
                <a:spcPts val="1400"/>
              </a:spcBef>
              <a:defRPr b="1" sz="1600">
                <a:solidFill>
                  <a:srgbClr val="2B6CB0"/>
                </a:solidFill>
              </a:defRPr>
            </a:pPr>
            <a:r>
              <a:t>• Automated PDF Diagnostic Export: </a:t>
            </a:r>
            <a:r>
              <a:rPr b="0" sz="1500">
                <a:solidFill>
                  <a:srgbClr val="2D3748"/>
                </a:solidFill>
              </a:rPr>
              <a:t>Generates formal medical diagnostic reports formatted with finding summary, spatial metrics, and visual overlays.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B6CB0"/>
                </a:solidFill>
              </a:defRPr>
            </a:pPr>
            <a:r>
              <a:t>B.TECH CAPSTONE RESEARCH DEMONSTRATION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600">
                <a:solidFill>
                  <a:srgbClr val="1A365D"/>
                </a:solidFill>
              </a:defRPr>
            </a:pPr>
            <a:r>
              <a:t>• Summary of Achievements: </a:t>
            </a:r>
            <a:r>
              <a:rPr b="0" sz="1500">
                <a:solidFill>
                  <a:srgbClr val="2D3748"/>
                </a:solidFill>
              </a:rPr>
              <a:t>Engineered MedFracture-Net, achieving 98.70% accuracy, 0.97 Dice score, and 31.4 ms real-time inference latency.</a:t>
            </a:r>
          </a:p>
          <a:p>
            <a:pPr>
              <a:spcBef>
                <a:spcPts val="1400"/>
              </a:spcBef>
              <a:defRPr b="1" sz="1600">
                <a:solidFill>
                  <a:srgbClr val="1A365D"/>
                </a:solidFill>
              </a:defRPr>
            </a:pPr>
            <a:r>
              <a:t>• Novel Core Contributions: </a:t>
            </a:r>
            <a:r>
              <a:rPr b="0" sz="1500">
                <a:solidFill>
                  <a:srgbClr val="2D3748"/>
                </a:solidFill>
              </a:rPr>
              <a:t>Integrated U-Net++, ResNet-34, Grad-CAM++ XAI, CLAHE enhancement, and physical millimeter severity estimation into a unified framework.</a:t>
            </a:r>
          </a:p>
          <a:p>
            <a:pPr>
              <a:spcBef>
                <a:spcPts val="1400"/>
              </a:spcBef>
              <a:defRPr b="1" sz="1600">
                <a:solidFill>
                  <a:srgbClr val="1A365D"/>
                </a:solidFill>
              </a:defRPr>
            </a:pPr>
            <a:r>
              <a:t>• Future Research Extension 1: </a:t>
            </a:r>
            <a:r>
              <a:rPr b="0" sz="1500">
                <a:solidFill>
                  <a:srgbClr val="2D3748"/>
                </a:solidFill>
              </a:rPr>
              <a:t>3D Volumetric CT Expansion: Extending 2D X-ray pipeline to 3D DICOM CT volumes via 3D Swin-UNETR.</a:t>
            </a:r>
          </a:p>
          <a:p>
            <a:pPr>
              <a:spcBef>
                <a:spcPts val="1400"/>
              </a:spcBef>
              <a:defRPr b="1" sz="1600">
                <a:solidFill>
                  <a:srgbClr val="1A365D"/>
                </a:solidFill>
              </a:defRPr>
            </a:pPr>
            <a:r>
              <a:t>• Future Research Extension 2: </a:t>
            </a:r>
            <a:r>
              <a:rPr b="0" sz="1500">
                <a:solidFill>
                  <a:srgbClr val="2D3748"/>
                </a:solidFill>
              </a:rPr>
              <a:t>Edge Mobile Hardware Deployment: Quantizing models via TensorRT for edge execution on ambulance digital X-ray units.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